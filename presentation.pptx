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ce210f6-85e8-eca3-3aab-9c19639f9d54}">
          <p14:sldIdLst>
            <p14:sldId id="256"/>
          </p14:sldIdLst>
        </p14:section>
        <p14:section name="7.1" id="{748c0e93-2c20-a766-2b19-bfdebcb2d38f}">
          <p14:sldIdLst>
            <p14:sldId id="257"/>
          </p14:sldIdLst>
        </p14:section>
        <p14:section name="7.2" id="{bc8e00c0-ec0f-6d6d-e5b7-109a31a765ea}">
          <p14:sldIdLst>
            <p14:sldId id="258"/>
          </p14:sldIdLst>
        </p14:section>
        <p14:section name="7.3" id="{fb9ef378-114d-004b-018e-70cedd8f279d}">
          <p14:sldIdLst>
            <p14:sldId id="259"/>
          </p14:sldIdLst>
        </p14:section>
        <p14:section name="7.4" id="{56f59997-e68e-8d30-9f38-e49ecf030399}">
          <p14:sldIdLst>
            <p14:sldId id="260"/>
          </p14:sldIdLst>
        </p14:section>
        <p14:section name="7.5" id="{c63e7d77-6653-0492-b298-501c00e2ea4e}">
          <p14:sldIdLst>
            <p14:sldId id="261"/>
          </p14:sldIdLst>
        </p14:section>
        <p14:section name="7.6" id="{08f034a5-964b-7351-1429-11b83ffcd6ca}">
          <p14:sldIdLst>
            <p14:sldId id="262"/>
          </p14:sldIdLst>
        </p14:section>
        <p14:section name="7.7" id="{e7a53fb9-99a4-6f10-e263-7be867d54363}">
          <p14:sldIdLst>
            <p14:sldId id="263"/>
          </p14:sldIdLst>
        </p14:section>
        <p14:section name="7.8" id="{febbb087-1c57-364d-187c-977741e32ffb}">
          <p14:sldIdLst>
            <p14:sldId id="264"/>
          </p14:sldIdLst>
        </p14:section>
        <p14:section name="7.9" id="{a767decf-8fda-44b1-a586-9498bdf226b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0"/>
                </a:solidFill>
                <a:latin typeface="+mn-lt"/>
              </a:rPr>
              <a:t>Hausse annuelle des loyers (%) · 2023 : 10,85 % (naïf) contre 2,29 % (même unité)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Médiane annuelle (naïve)</c:v>
                </c:pt>
              </c:strCache>
            </c:strRef>
          </c:tx>
          <c:spPr>
            <a:solidFill>
              <a:srgbClr val="5B6C70"/>
            </a:solidFill>
            <a:ln w="38100" cap="flat">
              <a:solidFill>
                <a:srgbClr val="5B6C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5B6C70"/>
              </a:solidFill>
              <a:ln w="9525" cap="flat">
                <a:solidFill>
                  <a:srgbClr val="5B6C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4.23</c:v>
                </c:pt>
                <c:pt idx="1">
                  <c:v>3.38</c:v>
                </c:pt>
                <c:pt idx="2">
                  <c:v>10.85</c:v>
                </c:pt>
                <c:pt idx="3">
                  <c:v>4.48</c:v>
                </c:pt>
                <c:pt idx="4">
                  <c:v>4.06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Même unité (contractuel)</c:v>
                </c:pt>
              </c:strCache>
            </c:strRef>
          </c:tx>
          <c:spPr>
            <a:solidFill>
              <a:srgbClr val="2E6F73"/>
            </a:solidFill>
            <a:ln w="38100" cap="flat">
              <a:solidFill>
                <a:srgbClr val="2E6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E6F73"/>
              </a:solidFill>
              <a:ln w="9525" cap="flat">
                <a:solidFill>
                  <a:srgbClr val="2E6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4.46</c:v>
                </c:pt>
                <c:pt idx="1">
                  <c:v>5.4</c:v>
                </c:pt>
                <c:pt idx="2">
                  <c:v>2.29</c:v>
                </c:pt>
                <c:pt idx="3">
                  <c:v>3.39</c:v>
                </c:pt>
                <c:pt idx="4">
                  <c:v>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D9E1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0"/>
                </a:solidFill>
                <a:latin typeface="+mn-lt"/>
              </a:rPr>
              <a:t>Hausse même unité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Loyer contractuel (sRent)</c:v>
                </c:pt>
              </c:strCache>
            </c:strRef>
          </c:tx>
          <c:spPr>
            <a:solidFill>
              <a:srgbClr val="8AA8A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4.46</c:v>
                </c:pt>
                <c:pt idx="1">
                  <c:v>5.4</c:v>
                </c:pt>
                <c:pt idx="2">
                  <c:v>2.29</c:v>
                </c:pt>
                <c:pt idx="3">
                  <c:v>3.39</c:v>
                </c:pt>
                <c:pt idx="4">
                  <c:v>7.04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Loyer effectif (sRentEffective)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3.54</c:v>
                </c:pt>
                <c:pt idx="1">
                  <c:v>4.59</c:v>
                </c:pt>
                <c:pt idx="2">
                  <c:v>2.02</c:v>
                </c:pt>
                <c:pt idx="3">
                  <c:v>1.77</c:v>
                </c:pt>
                <c:pt idx="4">
                  <c:v>3.58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0"/>
                </a:solidFill>
                <a:latin typeface="+mn-lt"/>
              </a:rPr>
              <a:t>Hausse même unité du loyer effectif, 2025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Renouvellement</c:v>
                </c:pt>
              </c:strCache>
            </c:strRef>
          </c:tx>
          <c:spPr>
            <a:solidFill>
              <a:srgbClr val="2E6F7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TAL</c:v>
                  </c:pt>
                  <c:pt idx="1">
                    <c:v>Section F</c:v>
                  </c:pt>
                  <c:pt idx="2">
                    <c:v>The Met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2.93</c:v>
                </c:pt>
                <c:pt idx="1">
                  <c:v>3.01</c:v>
                </c:pt>
                <c:pt idx="2">
                  <c:v>2.46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Relocation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TAL</c:v>
                  </c:pt>
                  <c:pt idx="1">
                    <c:v>Section F</c:v>
                  </c:pt>
                  <c:pt idx="2">
                    <c:v>The Met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6.46</c:v>
                </c:pt>
                <c:pt idx="1">
                  <c:v>5.32</c:v>
                </c:pt>
                <c:pt idx="2">
                  <c:v>5.45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0"/>
                </a:solidFill>
                <a:latin typeface="+mn-lt"/>
              </a:rPr>
              <a:t>Hausse effective même unité, prévue au 31 décembre précédent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Réel</c:v>
                </c:pt>
              </c:strCache>
            </c:strRef>
          </c:tx>
          <c:spPr>
            <a:solidFill>
              <a:srgbClr val="1F3A40"/>
            </a:solidFill>
            <a:ln w="38100" cap="flat">
              <a:solidFill>
                <a:srgbClr val="1F3A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F3A40"/>
              </a:solidFill>
              <a:ln w="9525" cap="flat">
                <a:solidFill>
                  <a:srgbClr val="1F3A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1.99</c:v>
                </c:pt>
                <c:pt idx="1">
                  <c:v>1.88</c:v>
                </c:pt>
                <c:pt idx="2">
                  <c:v>4.02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Notre modèle</c:v>
                </c:pt>
              </c:strCache>
            </c:strRef>
          </c:tx>
          <c:spPr>
            <a:solidFill>
              <a:srgbClr val="C8553D"/>
            </a:solidFill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3.21</c:v>
                </c:pt>
                <c:pt idx="1">
                  <c:v>4.1</c:v>
                </c:pt>
                <c:pt idx="2">
                  <c:v>3.79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Réf. : année précédente</c:v>
                </c:pt>
              </c:strCache>
            </c:strRef>
          </c:tx>
          <c:spPr>
            <a:solidFill>
              <a:srgbClr val="8AA8A1"/>
            </a:solidFill>
            <a:ln w="38100" cap="flat">
              <a:solidFill>
                <a:srgbClr val="8AA8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AA8A1"/>
              </a:solidFill>
              <a:ln w="9525" cap="flat">
                <a:solidFill>
                  <a:srgbClr val="8AA8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4.38</c:v>
                </c:pt>
                <c:pt idx="1">
                  <c:v>1.99</c:v>
                </c:pt>
                <c:pt idx="2">
                  <c:v>1.88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Réf. : moyenne 3 ans</c:v>
                </c:pt>
              </c:strCache>
            </c:strRef>
          </c:tx>
          <c:spPr>
            <a:solidFill>
              <a:srgbClr val="E0A458"/>
            </a:solidFill>
            <a:ln w="38100" cap="flat">
              <a:solidFill>
                <a:srgbClr val="E0A45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0A458"/>
              </a:solidFill>
              <a:ln w="9525" cap="flat">
                <a:solidFill>
                  <a:srgbClr val="E0A4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3.55</c:v>
                </c:pt>
                <c:pt idx="1">
                  <c:v>3.25</c:v>
                </c:pt>
                <c:pt idx="2">
                  <c:v>2.75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D9E1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0"/>
                </a:solidFill>
                <a:latin typeface="+mn-lt"/>
              </a:rPr>
              <a:t>Hausse 2026 selon les concessions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Hausse 2026 effective</c:v>
                </c:pt>
              </c:strCache>
            </c:strRef>
          </c:tx>
          <c:spPr>
            <a:solidFill>
              <a:srgbClr val="8AA8A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A8A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A8A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</c:v>
                  </c:pt>
                  <c:pt idx="1">
                    <c:v>Central</c:v>
                  </c:pt>
                  <c:pt idx="2">
                    <c:v>Haut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1.77</c:v>
                </c:pt>
                <c:pt idx="1">
                  <c:v>3.25</c:v>
                </c:pt>
                <c:pt idx="2">
                  <c:v>5.18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1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on annonce le chiffre tout de suite. Le reste de la présentation explique comment on y arrive et pourquoi on peut le défendre.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Définition de la hausse » (10 pts). Les cinq définitions donnent des chiffres très différents pour 2025, de 3,58 % à 8,98 %. Nous retenons le loyer effectif à unité constante parce que c'est l'argent réellement encaissé.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Analyse des données » : comprendre et renommer les colonnes. Deux surprises : PromoPay est ponctuel, alors que freerent et Indem sont mensuels. Les montants sont négatifs parce que ce sont des crédits au locataire.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Analyse des données et effet de mix » (15 pts). En 2023, la médiane affiche +10,85 % alors que la hausse réelle même unité est de 2,29 %. Des immeubles haut de gamme entrent dans les données : on loue des unités plus petites mais beaucoup plus chères au pied carré. En 2025, l'erreur s'inverse : la médiane n'est pas biaisée dans un sens fixe, elle est simplement non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Concessions » (10 pts). En 2025 : +7,04 % sur le bail, mais seulement +3,58 % encaissé. Annoncer 7 % à un propriétaire serait trompeur, d'où notre choix du loyer effectif.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Renouvellements vs relocations » (10 pts) et bonus Ontario. Dans les trois régimes, les relocations montent environ deux fois plus que les renouvellements. The Met est exempté mais ne monte que de 2,46 % en renouvellement : la contrainte vient du marché d'Ottawa, pas de la 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Critère « Données externes » (15 pts). Sources : communiqués du TAL, gouvernement de l'Ontario, Rapports sur le marché locatif de la SCHL. En 2026, le TAL passe de 5,9 % à 3,1 % : c'est ce qui ralentit les renouvellements encadrés.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prévision n'utilise que les données antérieures à l'année prévue. Limite honnête : les réglages sont choisis sur ces mêmes années, donc l'erreur est légèrement optimiste. Les fonctions estimate_2026() et backtest() du gabarit sont complétées et reproduisent ces chiffres.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« scénarios ». Les hausses en %. Dans le scénario bas, les renouvellements encadrés par le TAL tombent à −0,02 % : le loyer affiché monte, mais les rabais l'annulent. C'est la meilleure illustration de pourquoi nous mesurons le loyer effectif.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Résumé : le chiffre, la définition, et les trois raisons pour lesquelles on peut le défendre. Chaque point est développé dans la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CodeML 2026 · Défi JADCO · Collection Équinoxe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Hausse de loyer 2026 : 3,25 %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Collection Équinoxe · croissance à unité constante du loyer effectif, validée par backtest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CodeML 2026 · Défi JADCO « Clés en main 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7.1 · Quelle hausse mesure-t-on 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« La hausse de loyer » désigne plusieurs chiffres qui ne concordent pas. Nous en choisissons un et le défendons.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54223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Définition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Hausse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qu'elle mesure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Médiane annuelle de tous les baux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Surtout le changement d'immeubles (composition)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unité, loyer contractuel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loyer écrit sur le bail, avant les rabais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unité, loyer effectif (retenue)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revenu réellement perçu par le propriétaire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Renouvellements seulement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Locataires en place (contractuel)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Relocations seulement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8,98 %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Nouveaux locataires (contractuel)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Nous combinons ensuite les segments (renouvellements et relocations, Québec et Ontario) selon leur part dans les paires de l'année précédente : une part de paires, jamais un taux d'occupation.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7.2 · Ce que les données représentent vraiment</a:t>
            </a:r>
            <a:endParaRPr lang="en-US" sz="3400" dirty="0"/>
          </a:p>
        </p:txBody>
      </p:sp>
      <p:sp>
        <p:nvSpPr>
          <p:cNvPr id="3" name="carte-code-0"/>
          <p:cNvSpPr/>
          <p:nvPr/>
        </p:nvSpPr>
        <p:spPr>
          <a:xfrm>
            <a:off x="54864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PromoPay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Description Yardi : « Promo - Payable in the future »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rabais unique, pas un frais mensuel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88 % des lignes sur un seul mois · montant médian de 1 357 $, soit 69 % du loyer médian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Renommé : rabais_promo_unique</a:t>
            </a:r>
            <a:endParaRPr lang="en-US" sz="1300" dirty="0"/>
          </a:p>
        </p:txBody>
      </p:sp>
      <p:sp>
        <p:nvSpPr>
          <p:cNvPr id="10" name="carte-code-1"/>
          <p:cNvSpPr/>
          <p:nvPr/>
        </p:nvSpPr>
        <p:spPr>
          <a:xfrm>
            <a:off x="429768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45920"/>
            <a:ext cx="274320" cy="27432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freerent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03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Description Yardi : « Free rent »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rabais mensuel, pas un mois gratuit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520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mois à environ 129 $ par mois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Renommé : rabais_loyer_mensuel</a:t>
            </a:r>
            <a:endParaRPr lang="en-US" sz="1300" dirty="0"/>
          </a:p>
        </p:txBody>
      </p:sp>
      <p:sp>
        <p:nvSpPr>
          <p:cNvPr id="17" name="carte-code-2"/>
          <p:cNvSpPr/>
          <p:nvPr/>
        </p:nvSpPr>
        <p:spPr>
          <a:xfrm>
            <a:off x="8046720" y="141732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45920"/>
            <a:ext cx="274320" cy="274320"/>
          </a:xfrm>
          <a:prstGeom prst="ellipse">
            <a:avLst/>
          </a:prstGeom>
          <a:solidFill>
            <a:srgbClr val="5B6C70"/>
          </a:solidFill>
          <a:ln w="12700">
            <a:solidFill>
              <a:srgbClr val="5B6C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3252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Indem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031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Description Yardi : « Client indemnity »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 crédit mensuel, pas un paiement unique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520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mois à environ 149 $ par mois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754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Renommé : indemnite_mensuelle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Tous les codes sont renommés dans le notebook ; les fichiers sources restent intacts. sRentEffective étale bien PromoPay : vérifié sur un exemple (−11 % ≈ 1,3 mois de rabais réparti sur 12 mois).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7.3 · La médiane mesure surtout la composition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te-mix"/>
          <p:cNvSpPr/>
          <p:nvPr/>
        </p:nvSpPr>
        <p:spPr>
          <a:xfrm>
            <a:off x="7680960" y="1417320"/>
            <a:ext cx="3959352" cy="461772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 2021 et 2025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6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immeubles actifs (Le Carlyle et The Met en 2023, Westpark en 2024)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 → 2,33 $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749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 loyer médian au pi² : des unités plus petites mais plus chères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434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 / 1 061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937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unités en collision sur sSite + sUnitCode : nous apparions sur sPropCode + sUnitCode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7.4 · Les concessions absorbent la moitié de la hausse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63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54 % → 85 %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331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 baux avec une concession, de 2021 à 2025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0632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−3,5 → −8,7 %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d'écart médian entre loyer effectif et contractuel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663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Jusqu'en 2023, les deux hausses restent à moins d'un point. En 2024-2025, les concessions deviennent plus fréquentes et plus grosses : le loyer affiché monte, le revenu beaucoup moins.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7.5 · Deux provinces, trois régimes</a:t>
            </a:r>
            <a:endParaRPr lang="en-US" sz="3400" dirty="0"/>
          </a:p>
        </p:txBody>
      </p:sp>
      <p:sp>
        <p:nvSpPr>
          <p:cNvPr id="3" name="carte-regime-0"/>
          <p:cNvSpPr/>
          <p:nvPr/>
        </p:nvSpPr>
        <p:spPr>
          <a:xfrm>
            <a:off x="548640" y="141732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274320" cy="27432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554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Québec, encadré par le TAL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47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Daniel-Johnson · Lévesque · Saint-Elzéar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402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locataire peut refuser la hausse ; le TAL peut fixer le loyer.</a:t>
            </a:r>
            <a:endParaRPr lang="en-US" sz="1300" dirty="0"/>
          </a:p>
        </p:txBody>
      </p:sp>
      <p:sp>
        <p:nvSpPr>
          <p:cNvPr id="8" name="carte-regime-1"/>
          <p:cNvSpPr/>
          <p:nvPr/>
        </p:nvSpPr>
        <p:spPr>
          <a:xfrm>
            <a:off x="548640" y="297180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274320" cy="27432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Québec, section F (neuf)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021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Le Carlyle · Westpark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94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Immeuble de 5 ans ou moins : le TAL ne fixe pas le loyer.</a:t>
            </a:r>
            <a:endParaRPr lang="en-US" sz="1300" dirty="0"/>
          </a:p>
        </p:txBody>
      </p:sp>
      <p:sp>
        <p:nvSpPr>
          <p:cNvPr id="13" name="carte-regime-2"/>
          <p:cNvSpPr/>
          <p:nvPr/>
        </p:nvSpPr>
        <p:spPr>
          <a:xfrm>
            <a:off x="548640" y="4526280"/>
            <a:ext cx="5120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754880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663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Ontario, exempté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056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The Met (Ottawa)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349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Première occupation après le 15 novembre 2018 : pas de ligne directrice. Aucun plafond appliqué d'une province à l'autre.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035040" y="1371600"/>
          <a:ext cx="5605272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7.6 · Les données publiques qui ancrent la prévision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873752"/>
                <a:gridCol w="1243584"/>
                <a:gridCol w="1243584"/>
                <a:gridCol w="1243584"/>
                <a:gridCol w="1243584"/>
                <a:gridCol w="12435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base TAL, logement non chauffé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 directrice de l'Ontario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SCHL, hausse loyer 2 ch., RMR de Montréal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SCHL, hausse loyer 2 ch., RMR d'Ottawa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te-externe-0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Règle anti-fuite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Pour prévoir l'année N : taux TAL de N (publié en janvier), rapport SCHL de N−1 (publié en décembre).</a:t>
            </a:r>
            <a:endParaRPr lang="en-US" sz="1300" dirty="0"/>
          </a:p>
        </p:txBody>
      </p:sp>
      <p:sp>
        <p:nvSpPr>
          <p:cNvPr id="7" name="carte-externe-1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Contexte de marché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SCHL 2025 : inoccupation de 2,9 % à Montréal, 6,7 % dans les logements neufs d'Ottawa. Utilisée comme contexte seulement, jamais comme occupation d'Équinoxe.</a:t>
            </a:r>
            <a:endParaRPr lang="en-US" sz="1300" dirty="0"/>
          </a:p>
        </p:txBody>
      </p:sp>
      <p:sp>
        <p:nvSpPr>
          <p:cNvPr id="10" name="carte-externe-2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343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Validation croisée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SCHL Montréal 2023 : +18,9 % au changement de locataire, +5,7 % sinon. Le marché confirme l'écart relocation / renouvellement.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7.7 · Modèle et backtest : nous battons les références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Erreur absolue moyenne, 2023-2025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 pt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69264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Notre modèle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C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1,40 pt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Moyenne sur 3 ans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49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6C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1,55 pt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3749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Hausse de l'année précédente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7548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 segment : 50 % ancre publique + 50 % tendance interne (meilleur des 9 réglages testés), puis effet des concessions. Plus grande erreur : 2024, quand les concessions bondissent de 57 % à 73 %.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7.8 · Prévision 2026 : l'incertitude vient des rabais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4754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63040"/>
          <a:ext cx="60624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960120"/>
                <a:gridCol w="1051560"/>
                <a:gridCol w="868680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(central)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Relocations Québec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Renouv. Québec, 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Renouv. Québec, section 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Renouv. The 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Relocations The 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Portefeuille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53D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577840" y="4846320"/>
            <a:ext cx="6062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 immeuble : The Met 1,88 % · TAL 2,65 à 2,85 % · section F (Le Carlyle, Westpark) 4,36 %. Si la section F suivait le TAL : 2,74 %.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7.9 · Estimation finale : 3,25 %</a:t>
            </a:r>
            <a:endParaRPr lang="en-US" sz="3400" dirty="0"/>
          </a:p>
        </p:txBody>
      </p:sp>
      <p:sp>
        <p:nvSpPr>
          <p:cNvPr id="3" name="carte-chiffre"/>
          <p:cNvSpPr/>
          <p:nvPr/>
        </p:nvSpPr>
        <p:spPr>
          <a:xfrm>
            <a:off x="548640" y="146304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1F3A40"/>
          </a:solidFill>
          <a:ln w="12700">
            <a:solidFill>
              <a:srgbClr val="1F3A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Hausse 2026 (scénario central)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3,25 %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Fourchette : 1,77 % à 5,18 %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selon l'évolution des concessions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800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Erreur au backtest 2023-2025 : 1,22 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(références : 1,40 et 1,55)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5544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Définition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89280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Croissance annualisée à unité constante du loyer effectif (sRentEffective), combinée par segment.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2670048"/>
            <a:ext cx="502920" cy="50292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624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Pourquoi l'effectif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00837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C'est le revenu réellement perçu : en 2025, les concessions absorbent la moitié de la hausse affichée.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3785616"/>
            <a:ext cx="502920" cy="50292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7398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Pourquoi par segment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239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TAL, section F et Ontario n'encadrent pas les hausses de la même façon : 5 segments, 5 ancres.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4901184"/>
            <a:ext cx="502920" cy="50292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8554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Pourquoi le croire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52395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modèle bat les deux références au backtest, et sa principale hypothèse est testée.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inoxe">
  <a:themeElements>
    <a:clrScheme name="Equinoxe">
      <a:dk1>
        <a:srgbClr val="1B2B2E"/>
      </a:dk1>
      <a:lt1>
        <a:srgbClr val="FFFFFF"/>
      </a:lt1>
      <a:dk2>
        <a:srgbClr val="1F3A40"/>
      </a:dk2>
      <a:lt2>
        <a:srgbClr val="EEF2F1"/>
      </a:lt2>
      <a:accent1>
        <a:srgbClr val="C8553D"/>
      </a:accent1>
      <a:accent2>
        <a:srgbClr val="2E6F73"/>
      </a:accent2>
      <a:accent3>
        <a:srgbClr val="E0A458"/>
      </a:accent3>
      <a:accent4>
        <a:srgbClr val="8AA8A1"/>
      </a:accent4>
      <a:accent5>
        <a:srgbClr val="5B6C70"/>
      </a:accent5>
      <a:accent6>
        <a:srgbClr val="B9C7C4"/>
      </a:accent6>
      <a:hlink>
        <a:srgbClr val="2E6F73"/>
      </a:hlink>
      <a:folHlink>
        <a:srgbClr val="5B6C70"/>
      </a:folHlink>
    </a:clrScheme>
    <a:fontScheme name="Equinox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Hausse de loyer 2026 — Collection Équinoxe</dc:title>
  <dc:subject>PptxGenJS Presentation</dc:subject>
  <dc:creator>Équipe CodeML 2026</dc:creator>
  <cp:lastModifiedBy>Équipe CodeML 2026</cp:lastModifiedBy>
  <cp:revision>1</cp:revision>
  <dcterms:created xsi:type="dcterms:W3CDTF">2026-10-04T13:44:19Z</dcterms:created>
  <dcterms:modified xsi:type="dcterms:W3CDTF">2026-10-04T13:44:19Z</dcterms:modified>
</cp:coreProperties>
</file>